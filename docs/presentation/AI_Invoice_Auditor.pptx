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390b5fc9be4c72" /><Relationship Type="http://schemas.openxmlformats.org/officeDocument/2006/relationships/extended-properties" Target="/docProps/app.xml" Id="R68e742a3f4a34e8b" /><Relationship Type="http://schemas.openxmlformats.org/officeDocument/2006/relationships/officeDocument" Target="/ppt/presentation.xml" Id="Rb732e9d1a23a47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f8547c4d364014"/>
  </p:sldMasterIdLst>
  <p:notesMasterIdLst>
    <p:notesMasterId xmlns:r="http://schemas.openxmlformats.org/officeDocument/2006/relationships" r:id="R7817f01156394e21"/>
  </p:notesMasterIdLst>
  <p:sldIdLst>
    <p:sldId xmlns:r="http://schemas.openxmlformats.org/officeDocument/2006/relationships" id="256" r:id="R58bd35a0d45c407b"/>
    <p:sldId xmlns:r="http://schemas.openxmlformats.org/officeDocument/2006/relationships" id="257" r:id="Re226eae1e8404b41"/>
    <p:sldId xmlns:r="http://schemas.openxmlformats.org/officeDocument/2006/relationships" id="258" r:id="R8bc6a305f41c4538"/>
    <p:sldId xmlns:r="http://schemas.openxmlformats.org/officeDocument/2006/relationships" id="259" r:id="Rb3b2501d3fcb48fe"/>
    <p:sldId xmlns:r="http://schemas.openxmlformats.org/officeDocument/2006/relationships" id="260" r:id="Rf0b7c43c1f5d4c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19ba8c136240a4" /><Relationship Type="http://schemas.openxmlformats.org/officeDocument/2006/relationships/slideMaster" Target="/ppt/slideMasters/slideMaster1.xml" Id="R0bf8547c4d364014" /><Relationship Type="http://schemas.openxmlformats.org/officeDocument/2006/relationships/notesMaster" Target="/ppt/notesMasters/notesMaster1.xml" Id="R7817f01156394e21" /><Relationship Type="http://schemas.openxmlformats.org/officeDocument/2006/relationships/presProps" Target="/ppt/presProps.xml" Id="R66231a6117d44911" /><Relationship Type="http://schemas.openxmlformats.org/officeDocument/2006/relationships/tableStyles" Target="/ppt/tableStyles.xml" Id="R8b61e81dadc146f5" /><Relationship Type="http://schemas.openxmlformats.org/officeDocument/2006/relationships/slide" Target="/ppt/slides/slide1.xml" Id="R58bd35a0d45c407b" /><Relationship Type="http://schemas.openxmlformats.org/officeDocument/2006/relationships/slide" Target="/ppt/slides/slide2.xml" Id="Re226eae1e8404b41" /><Relationship Type="http://schemas.openxmlformats.org/officeDocument/2006/relationships/slide" Target="/ppt/slides/slide3.xml" Id="R8bc6a305f41c4538" /><Relationship Type="http://schemas.openxmlformats.org/officeDocument/2006/relationships/slide" Target="/ppt/slides/slide4.xml" Id="Rb3b2501d3fcb48fe" /><Relationship Type="http://schemas.openxmlformats.org/officeDocument/2006/relationships/slide" Target="/ppt/slides/slide5.xml" Id="Rf0b7c43c1f5d4c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71f58a839a44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f5302a6e4740f2" /><Relationship Type="http://schemas.openxmlformats.org/officeDocument/2006/relationships/notesMaster" Target="/ppt/notesMasters/notesMaster1.xml" Id="R748c5f09215449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5445d278924561" /><Relationship Type="http://schemas.openxmlformats.org/officeDocument/2006/relationships/notesMaster" Target="/ppt/notesMasters/notesMaster1.xml" Id="Rc3b548a4ced148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848ec3822746d7" /><Relationship Type="http://schemas.openxmlformats.org/officeDocument/2006/relationships/notesMaster" Target="/ppt/notesMasters/notesMaster1.xml" Id="R4691416988954d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a26450e66d461c" /><Relationship Type="http://schemas.openxmlformats.org/officeDocument/2006/relationships/notesMaster" Target="/ppt/notesMasters/notesMaster1.xml" Id="R9110addf58b741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eb2c40f46f4b09" /><Relationship Type="http://schemas.openxmlformats.org/officeDocument/2006/relationships/notesMaster" Target="/ppt/notesMasters/notesMaster1.xml" Id="R0415b36736f84d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Member 1 introduces the document problem, Member 2 the deterministic audit, Member 3 grounded QA, Member 4 review and deployment. This is a capstone teaching implementation. All fixture data is synthetic. Replace member numbers with actual names before presenting.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Member 4 explains service boundaries. Streamlit reads audit data in read-only transactions and writes through agent APIs. Agent uses LangGraph, real MCP stdio and Google ADK reporting via A2A. ERP lookups are HTTP only. PostgreSQL is the source of truth; Qdrant vectors are rebuildable; Redis is disposable. Bedrock and Langfuse are external dependencies, not extra containers.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Member 1 explains direct text versus OCR and source language validation. Member 2 explains Decimal arithmetic and approved ERP values. Spanish BOX-01 price 120 compared to 100 is a 20% deviation. German quantity 12 compared to 10 is also 20%. Translation confidence is a self-assessment, not a calibrated probability. Original evidence and checkpoints remain saved after a failure.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Member 3 explains fixed SQL intents versus semantic retrieval. Triad reflection checks answer relevance, context relevance and groundedness; average must be strictly greater than 0.7, with at most three retries after the first attempt. Canonical evidence excludes generated explanation prose. Member 4 demonstrates a header correction that creates version 2 without rewriting version 1 or original extraction, then exports HTML/JSON and shows a redacted trace.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Development evidence: automated full dependency suite, real SDK protocol tests with stubbed model answers, six healthy Docker services, isolated retained-volume/reset checks and Langfuse smoke export/read-back. Do not call this live Nuvepro Bedrock verification. Model compatibility is documented: https://docs.aws.amazon.com/bedrock/latest/userguide/model-card-cohere-command-r-plus.html and MODEL_COMPATIBILITY.md. Original Masked Invoice.pdf and ERP SQL attachments were not supplied. Start with START_HERE_NUVEPRO.md and record actual lab results in ACCEPTANCE_CHECKLIST.md.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8a15a79e7e422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f873dce8e8434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0292f52f034cb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9d063ceaf94ae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d1503900e042b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027dc92d5c43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A98011-C6C5-40D4-A296-2E094DE2C9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8F5F0C0-884D-49CB-816E-58C164425A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0186C09-C639-4891-9F04-307FC0E242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F24111-F069-4FBC-A6E9-C3314FFBEA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8A6A7BB-0049-4C52-8161-4BE57BF0CF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32F5DEE-6037-4012-9795-3B1B09B713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7B06C83-2A57-44D4-89E9-DEAC1060BA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00D625B-1775-40B9-9137-4B42C0C5DBC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7044EC-8ACB-4864-9230-237597B238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511E4C8-DBA4-4800-9BFE-584EB45806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e2c9326ef842d8" /><Relationship Type="http://schemas.openxmlformats.org/officeDocument/2006/relationships/slideLayout" Target="/ppt/slideLayouts/slideLayout1.xml" Id="Rad57c187a7474331" /><Relationship Type="http://schemas.openxmlformats.org/officeDocument/2006/relationships/slideLayout" Target="/ppt/slideLayouts/slideLayout2.xml" Id="R5fadbde4d2dd4030" /><Relationship Type="http://schemas.openxmlformats.org/officeDocument/2006/relationships/slideLayout" Target="/ppt/slideLayouts/slideLayout3.xml" Id="R9f83402230464f1a" /><Relationship Type="http://schemas.openxmlformats.org/officeDocument/2006/relationships/slideLayout" Target="/ppt/slideLayouts/slideLayout4.xml" Id="R5ed0db81dcba4fec" /><Relationship Type="http://schemas.openxmlformats.org/officeDocument/2006/relationships/slideLayout" Target="/ppt/slideLayouts/slideLayout5.xml" Id="R7ff09e5c6d8040a0" /><Relationship Type="http://schemas.openxmlformats.org/officeDocument/2006/relationships/slideLayout" Target="/ppt/slideLayouts/slideLayout6.xml" Id="Rca941642720d49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57c187a7474331"/>
    <p:sldLayoutId xmlns:r="http://schemas.openxmlformats.org/officeDocument/2006/relationships" id="2147483650" r:id="R5fadbde4d2dd4030"/>
    <p:sldLayoutId xmlns:r="http://schemas.openxmlformats.org/officeDocument/2006/relationships" id="2147483651" r:id="R9f83402230464f1a"/>
    <p:sldLayoutId xmlns:r="http://schemas.openxmlformats.org/officeDocument/2006/relationships" id="2147483652" r:id="R5ed0db81dcba4fec"/>
    <p:sldLayoutId xmlns:r="http://schemas.openxmlformats.org/officeDocument/2006/relationships" id="2147483653" r:id="R7ff09e5c6d8040a0"/>
    <p:sldLayoutId xmlns:r="http://schemas.openxmlformats.org/officeDocument/2006/relationships" id="2147483654" r:id="Rca941642720d49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9f15e773694ecf" /><Relationship Type="http://schemas.openxmlformats.org/officeDocument/2006/relationships/notesSlide" Target="/ppt/notesSlides/notesSlide1.xml" Id="R55dbc0f4045042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64cd8eefb742e1" /><Relationship Type="http://schemas.openxmlformats.org/officeDocument/2006/relationships/notesSlide" Target="/ppt/notesSlides/notesSlide2.xml" Id="Rd09ae72f2b7149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4e8a485ccd440a" /><Relationship Type="http://schemas.openxmlformats.org/officeDocument/2006/relationships/notesSlide" Target="/ppt/notesSlides/notesSlide3.xml" Id="R93035fd256cc44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8ce0f6e11744a4" /><Relationship Type="http://schemas.openxmlformats.org/officeDocument/2006/relationships/notesSlide" Target="/ppt/notesSlides/notesSlide4.xml" Id="R34b841c6087344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859e45b9d64ea1" /><Relationship Type="http://schemas.openxmlformats.org/officeDocument/2006/relationships/notesSlide" Target="/ppt/notesSlides/notesSlide5.xml" Id="Reee3b7c032d746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DDB79A-9B27-47E8-BA4C-236DB9CF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04D"/>
                </a:solidFill>
                <a:latin typeface="Arial"/>
                <a:ea typeface="Arial"/>
                <a:cs typeface="Arial"/>
              </a:rPr>
              <a:t>AI Invoice Auditor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45C135-E953-4D51-9D32-E8E7E30D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04D"/>
                </a:solidFill>
                <a:latin typeface="Arial"/>
                <a:ea typeface="Arial"/>
                <a:cs typeface="Arial"/>
              </a:rPr>
              <a:t>Multilingual evidence. Deterministic audit. Human review.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81502-2CDD-4CD9-8117-62BD9F22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623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04D"/>
                </a:solidFill>
                <a:latin typeface="Arial"/>
                <a:ea typeface="Arial"/>
                <a:cs typeface="Arial"/>
              </a:rPr>
              <a:t>PDF / DOCX / scanned PNG  &gt;  ERP comparison  &gt;  versioned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E7AD73-EE3C-4B7E-B5C6-1585BFB3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77D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2677D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2677D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2677D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2677D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2677D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2677D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2677D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2677D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267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77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77D"/>
                </a:solidFill>
                <a:latin typeface="Arial"/>
                <a:ea typeface="Arial"/>
                <a:cs typeface="Arial"/>
              </a:rPr>
              <a:t>Final lab: AWS Bedrock Converse</a:t>
            </a:r>
          </a:p>
          <a:p xmlns:a="http://schemas.openxmlformats.org/drawingml/2006/main">
            <a:pPr>
              <a:defRPr sz="2025" b="0">
                <a:solidFill>
                  <a:srgbClr val="52677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77D"/>
                </a:solidFill>
                <a:latin typeface="Arial"/>
                <a:ea typeface="Arial"/>
                <a:cs typeface="Arial"/>
              </a:rPr>
              <a:t>Development substitute: Groq, kept separate</a:t>
            </a:r>
          </a:p>
        </p:txBody>
      </p:sp>
    </p:spTree>
    <p:extLst>
      <p:ext uri="{BB962C8B-B14F-4D97-AF65-F5344CB8AC3E}">
        <p14:creationId xmlns:p14="http://schemas.microsoft.com/office/powerpoint/2010/main" val="9323799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AE658D-6CBA-48E3-A20E-AD3C6BE0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04D"/>
                </a:solidFill>
                <a:latin typeface="Arial"/>
                <a:ea typeface="Arial"/>
                <a:cs typeface="Arial"/>
              </a:rPr>
              <a:t>Six-service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1E5090-18BD-4AC7-B593-1BDCFAEC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2762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7"/>
          </a:solidFill>
          <a:ln xmlns:a="http://schemas.openxmlformats.org/drawingml/2006/main" w="9525">
            <a:solidFill>
              <a:srgbClr val="8EA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541DA-EAF2-4904-B6BE-D10C85B5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05000"/>
            <a:ext cx="2419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04D"/>
                </a:solidFill>
                <a:latin typeface="Arial"/>
                <a:ea typeface="Arial"/>
                <a:cs typeface="Arial"/>
              </a:rPr>
              <a:t>Streamlit UI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D21375-A329-4592-A175-D09434C3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14500"/>
            <a:ext cx="3476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7"/>
          </a:solidFill>
          <a:ln xmlns:a="http://schemas.openxmlformats.org/drawingml/2006/main" w="9525">
            <a:solidFill>
              <a:srgbClr val="8EA4B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D054A2-F104-4E7A-B11B-863A6D44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905000"/>
            <a:ext cx="3133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04D"/>
                </a:solidFill>
                <a:latin typeface="Arial"/>
                <a:ea typeface="Arial"/>
                <a:cs typeface="Arial"/>
              </a:rPr>
              <a:t>Agent / LangGraph</a:t>
            </a:r>
          </a:p>
          <a:p xmlns:a="http://schemas.openxmlformats.org/drawingml/2006/main">
            <a: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04D"/>
                </a:solidFill>
                <a:latin typeface="Arial"/>
                <a:ea typeface="Arial"/>
                <a:cs typeface="Arial"/>
              </a:rPr>
              <a:t>MCP + ADK / A2A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4B430C-70C5-4D2A-AD54-507DB839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14500"/>
            <a:ext cx="2762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7"/>
          </a:solidFill>
          <a:ln xmlns:a="http://schemas.openxmlformats.org/drawingml/2006/main" w="9525">
            <a:solidFill>
              <a:srgbClr val="8EA4B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76422A-0C26-4757-B5C0-DF4BF0A8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05000"/>
            <a:ext cx="2419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04D"/>
                </a:solidFill>
                <a:latin typeface="Arial"/>
                <a:ea typeface="Arial"/>
                <a:cs typeface="Arial"/>
              </a:rPr>
              <a:t>Mock ERP HTTP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A578F1-FF69-47DB-BC87-6420200B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05250"/>
            <a:ext cx="2762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7"/>
          </a:solidFill>
          <a:ln xmlns:a="http://schemas.openxmlformats.org/drawingml/2006/main" w="9525">
            <a:solidFill>
              <a:srgbClr val="8EA4B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5085D3-721E-4A89-B27D-85A89E1D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095750"/>
            <a:ext cx="2419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04D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04D"/>
                </a:solidFill>
                <a:latin typeface="Arial"/>
                <a:ea typeface="Arial"/>
                <a:cs typeface="Arial"/>
              </a:rPr>
              <a:t>evidence + history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38B1B9-EC84-4542-805A-259635F6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905250"/>
            <a:ext cx="3476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7"/>
          </a:solidFill>
          <a:ln xmlns:a="http://schemas.openxmlformats.org/drawingml/2006/main" w="9525">
            <a:solidFill>
              <a:srgbClr val="8EA4B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40981F-0CBF-42BC-BFC6-28C320B1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095750"/>
            <a:ext cx="3133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04D"/>
                </a:solidFill>
                <a:latin typeface="Arial"/>
                <a:ea typeface="Arial"/>
                <a:cs typeface="Arial"/>
              </a:rPr>
              <a:t>Qdrant</a:t>
            </a:r>
          </a:p>
          <a:p xmlns:a="http://schemas.openxmlformats.org/drawingml/2006/main">
            <a: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04D"/>
                </a:solidFill>
                <a:latin typeface="Arial"/>
                <a:ea typeface="Arial"/>
                <a:cs typeface="Arial"/>
              </a:rPr>
              <a:t>evidence vectors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0A57DA-817A-4E51-A411-81FB7AED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05250"/>
            <a:ext cx="2762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7"/>
          </a:solidFill>
          <a:ln xmlns:a="http://schemas.openxmlformats.org/drawingml/2006/main" w="9525">
            <a:solidFill>
              <a:srgbClr val="8EA4B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ABF83D-1AF9-4309-87DD-07DA23CC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95750"/>
            <a:ext cx="2419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04D"/>
                </a:solidFill>
                <a:latin typeface="Arial"/>
                <a:ea typeface="Arial"/>
                <a:cs typeface="Arial"/>
              </a:rPr>
              <a:t>Redis</a:t>
            </a:r>
          </a:p>
          <a:p xmlns:a="http://schemas.openxmlformats.org/drawingml/2006/main">
            <a:pPr>
              <a:defRPr sz="20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04D"/>
                </a:solidFill>
                <a:latin typeface="Arial"/>
                <a:ea typeface="Arial"/>
                <a:cs typeface="Arial"/>
              </a:rPr>
              <a:t>expiring cache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1E7D3C-9AD0-4B4A-8C16-5990B0FC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526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7304D"/>
                </a:solidFill>
                <a:latin typeface="Arial"/>
                <a:ea typeface="Arial"/>
                <a:cs typeface="Arial"/>
              </a:rPr>
              <a:t> &gt; 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30D62B-74DB-4776-AB14-9FD4E909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526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7304D"/>
                </a:solidFill>
                <a:latin typeface="Arial"/>
                <a:ea typeface="Arial"/>
                <a:cs typeface="Arial"/>
              </a:rPr>
              <a:t> &gt; 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0EAF5A-1BA7-43F0-AE66-C8066B65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9562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04D"/>
                </a:solidFill>
                <a:latin typeface="Arial"/>
                <a:ea typeface="Arial"/>
                <a:cs typeface="Arial"/>
              </a:rPr>
              <a:t>Agent to audit storage, vector index and cache; ERP to its PostgreSQL schema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BAB2C6-1580-43C3-83EC-412412E9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150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2677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677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677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677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677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677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677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677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677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67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7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D"/>
                </a:solidFill>
                <a:latin typeface="Arial"/>
                <a:ea typeface="Arial"/>
                <a:cs typeface="Arial"/>
              </a:rPr>
              <a:t>External: AWS Bedrock (Converse + Titan) | Langfuse (redacted operation traces)</a:t>
            </a:r>
          </a:p>
        </p:txBody>
      </p:sp>
    </p:spTree>
    <p:extLst>
      <p:ext uri="{BB962C8B-B14F-4D97-AF65-F5344CB8AC3E}">
        <p14:creationId xmlns:p14="http://schemas.microsoft.com/office/powerpoint/2010/main" val="1671785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78E14F-DB5C-45B7-AC1B-12387D77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04D"/>
                </a:solidFill>
                <a:latin typeface="Arial"/>
                <a:ea typeface="Arial"/>
                <a:cs typeface="Arial"/>
              </a:rPr>
              <a:t>Document and audit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E7C815-5931-4C88-99E5-FD2B39A8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04D"/>
                </a:solidFill>
                <a:latin typeface="Arial"/>
                <a:ea typeface="Arial"/>
                <a:cs typeface="Arial"/>
              </a:rPr>
              <a:t>Member 1 : Document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5F5DF-1DD9-4552-BED5-333A8424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04D"/>
                </a:solidFill>
                <a:latin typeface="Arial"/>
                <a:ea typeface="Arial"/>
                <a:cs typeface="Arial"/>
              </a:rPr>
              <a:t>Checksum intake  &gt;  extract / OCR  &gt;  translate  &gt;  typed Invoice</a:t>
            </a:r>
          </a:p>
          <a:p xmlns:a="http://schemas.openxmlformats.org/drawingml/2006/main">
            <a:pPr>
              <a:defRPr sz="22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04D"/>
                </a:solidFill>
                <a:latin typeface="Arial"/>
                <a:ea typeface="Arial"/>
                <a:cs typeface="Arial"/>
              </a:rPr>
              <a:t>Preserve full raw text, translated text and original fields.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2739B6-779C-49C1-819B-614BEC5F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147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04D"/>
                </a:solidFill>
                <a:latin typeface="Arial"/>
                <a:ea typeface="Arial"/>
                <a:cs typeface="Arial"/>
              </a:rPr>
              <a:t>Member 2 : Audit rules and durable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643E7-730C-4CFD-98C3-11E750D1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29125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04D"/>
                </a:solidFill>
                <a:latin typeface="Arial"/>
                <a:ea typeface="Arial"/>
                <a:cs typeface="Arial"/>
              </a:rPr>
              <a:t>ERP HTTP lookup  &gt;  Decimal rules  &gt;  findings  &gt;  saved version</a:t>
            </a:r>
          </a:p>
          <a:p xmlns:a="http://schemas.openxmlformats.org/drawingml/2006/main">
            <a:pPr>
              <a:defRPr sz="2250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04D"/>
                </a:solidFill>
                <a:latin typeface="Arial"/>
                <a:ea typeface="Arial"/>
                <a:cs typeface="Arial"/>
              </a:rPr>
              <a:t>Spanish: price 120 vs 100. German: quantity 12 vs 10.</a:t>
            </a:r>
          </a:p>
        </p:txBody>
      </p:sp>
    </p:spTree>
    <p:extLst>
      <p:ext uri="{BB962C8B-B14F-4D97-AF65-F5344CB8AC3E}">
        <p14:creationId xmlns:p14="http://schemas.microsoft.com/office/powerpoint/2010/main" val="17207246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6B8EEA-7325-4BDE-B2C7-5B7663B6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04D"/>
                </a:solidFill>
                <a:latin typeface="Arial"/>
                <a:ea typeface="Arial"/>
                <a:cs typeface="Arial"/>
              </a:rPr>
              <a:t>Evidence questions and reviewer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F7E746-0DC0-4E33-95C6-DE00E8C2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04D"/>
                </a:solidFill>
                <a:latin typeface="Arial"/>
                <a:ea typeface="Arial"/>
                <a:cs typeface="Arial"/>
              </a:rPr>
              <a:t>Member 3 : Bedrock and RAG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73CB18-D7BD-460A-B5C9-9E7C2AE4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04D"/>
                </a:solidFill>
                <a:latin typeface="Arial"/>
                <a:ea typeface="Arial"/>
                <a:cs typeface="Arial"/>
              </a:rPr>
              <a:t>Scoped evidence  &gt;  rerank  &gt;  cited answer  &gt;  reflection</a:t>
            </a:r>
          </a:p>
          <a:p xmlns:a="http://schemas.openxmlformats.org/drawingml/2006/main">
            <a:pPr>
              <a:defRPr sz="21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04D"/>
                </a:solidFill>
                <a:latin typeface="Arial"/>
                <a:ea typeface="Arial"/>
                <a:cs typeface="Arial"/>
              </a:rPr>
              <a:t>Fixed SQL for supported totals/counts; abstain when evidence is missing.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3A120-B411-423B-9EA6-6058DB42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576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04D"/>
                </a:solidFill>
                <a:latin typeface="Arial"/>
                <a:ea typeface="Arial"/>
                <a:cs typeface="Arial"/>
              </a:rPr>
              <a:t>Member 4 : Integration and human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8FD50D-F5B1-46F9-BF1B-0106226D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04D"/>
                </a:solidFill>
                <a:latin typeface="Arial"/>
                <a:ea typeface="Arial"/>
                <a:cs typeface="Arial"/>
              </a:rPr>
              <a:t>ADK via A2A | MCP tools | Streamlit | Langfuse</a:t>
            </a:r>
          </a:p>
          <a:p xmlns:a="http://schemas.openxmlformats.org/drawingml/2006/main">
            <a:pPr>
              <a:defRPr sz="21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04D"/>
                </a:solidFill>
                <a:latin typeface="Arial"/>
                <a:ea typeface="Arial"/>
                <a:cs typeface="Arial"/>
              </a:rPr>
              <a:t>Corrections append new versions; original extraction remains available.</a:t>
            </a:r>
          </a:p>
        </p:txBody>
      </p:sp>
    </p:spTree>
    <p:extLst>
      <p:ext uri="{BB962C8B-B14F-4D97-AF65-F5344CB8AC3E}">
        <p14:creationId xmlns:p14="http://schemas.microsoft.com/office/powerpoint/2010/main" val="9699485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D64CD7-FE8B-4754-9A97-C5CCEBB3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04D"/>
                </a:solidFill>
                <a:latin typeface="Arial"/>
                <a:ea typeface="Arial"/>
                <a:cs typeface="Arial"/>
              </a:rPr>
              <a:t>Verification and lab acceptance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B78D03-CE36-4230-9515-EC4F5D23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04D"/>
                </a:solidFill>
                <a:latin typeface="Arial"/>
                <a:ea typeface="Arial"/>
                <a:cs typeface="Arial"/>
              </a:rPr>
              <a:t>Verified on development machine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5BA3F-722B-40B7-BA48-8D15E180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04D"/>
                </a:solidFill>
                <a:latin typeface="Arial"/>
                <a:ea typeface="Arial"/>
                <a:cs typeface="Arial"/>
              </a:rPr>
              <a:t>SDK and application tests | six healthy services</a:t>
            </a:r>
          </a:p>
          <a:p xmlns:a="http://schemas.openxmlformats.org/drawingml/2006/main">
            <a:pPr>
              <a:defRPr sz="21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04D"/>
                </a:solidFill>
                <a:latin typeface="Arial"/>
                <a:ea typeface="Arial"/>
                <a:cs typeface="Arial"/>
              </a:rPr>
              <a:t>Durable audit/checkpoints/vectors | disposable Redis</a:t>
            </a:r>
          </a:p>
          <a:p xmlns:a="http://schemas.openxmlformats.org/drawingml/2006/main">
            <a:pPr>
              <a:defRPr sz="21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04D"/>
                </a:solidFill>
                <a:latin typeface="Arial"/>
                <a:ea typeface="Arial"/>
                <a:cs typeface="Arial"/>
              </a:rPr>
              <a:t>Langfuse smoke trace export and authenticated read-back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CBF164-6227-4E08-81FB-4EDC57B4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730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04D"/>
                </a:solidFill>
                <a:latin typeface="Arial"/>
                <a:ea typeface="Arial"/>
                <a:cs typeface="Arial"/>
              </a:rPr>
              <a:t>Run in Nuvepro before claiming final acceptance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0B7FB1-71F3-48E2-A61F-DDBBB30B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0537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04D"/>
                </a:solidFill>
                <a:latin typeface="Arial"/>
                <a:ea typeface="Arial"/>
                <a:cs typeface="Arial"/>
              </a:rPr>
              <a:t>Credential doctor  &gt;  live Bedrock check  &gt;  multilingual demo</a:t>
            </a:r>
          </a:p>
          <a:p xmlns:a="http://schemas.openxmlformats.org/drawingml/2006/main">
            <a:pPr>
              <a:defRPr sz="2175" b="0">
                <a:solidFill>
                  <a:srgbClr val="1730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04D"/>
                </a:solidFill>
                <a:latin typeface="Arial"/>
                <a:ea typeface="Arial"/>
                <a:cs typeface="Arial"/>
              </a:rPr>
              <a:t>Correct a field, inspect history, ask questions and verify traces.</a:t>
            </a:r>
          </a:p>
        </p:txBody>
      </p:sp>
    </p:spTree>
    <p:extLst>
      <p:ext uri="{BB962C8B-B14F-4D97-AF65-F5344CB8AC3E}">
        <p14:creationId xmlns:p14="http://schemas.microsoft.com/office/powerpoint/2010/main" val="4346423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2026-10-27T18:04:41.5190000Z</dcterms:created>
  <dcterms:modified xsi:type="dcterms:W3CDTF">2026-10-27T18:04:41.5190000Z</dcterms:modified>
</coreProperties>
</file>